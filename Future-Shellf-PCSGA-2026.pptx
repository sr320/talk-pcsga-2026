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12-minute talk. Two things growers can use: predict phenotype before you grow it out, and read stress on the farm in real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Set up the grower problem before introducing the tool.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Left plate: early in the incubation. Right plate: 4-6 hours later. You can literally see metabolism.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Emphasize throughput: this is the reason it is useful operationally.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Highlight that the method paper is out — this is not preliminary.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Objectives 3, 4, 5 of the paper, compressed.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 oysters per family per trial; time of death logged repeatedly.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Keep this brief — it's plumbing, not the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truth we want to predict.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small gap between the two means the prediction isn't just memorizing our nine families. Spend ~45 s here — every rho on the next three slides depends on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Leave-one-family-out CV is the honest number.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Metabolic depression as a resilience strategy — consistent with the PeerJ survival result.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the curve once: climbs, peaks, then drops. Early rise, steadiness, time to steepest drop, depth of collapse. Then the next slide says which direction is good.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Measured under freshwater + heat. Blending averages out individual noise.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Half a day of dye work stands in for a season of grow-out.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operational pitch: early warning + management comparison.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Short — leave time for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Land on the two grower uses.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06324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960120"/>
            <a:ext cx="106070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400" b="1">
                <a:solidFill>
                  <a:srgbClr val="FFFFFF"/>
                </a:solidFill>
              </a:defRPr>
            </a:pPr>
            <a:r>
              <a:t>Future Shellf</a:t>
            </a:r>
          </a:p>
          <a:p>
            <a:pPr>
              <a:spcBef>
                <a:spcPts val="800"/>
              </a:spcBef>
              <a:defRPr sz="3000">
                <a:solidFill>
                  <a:srgbClr val="9FD3D8"/>
                </a:solidFill>
              </a:defRPr>
            </a:pPr>
            <a:r>
              <a:t>Predictive Phenotyping for Oyster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785615"/>
            <a:ext cx="10607040" cy="16824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444A52"/>
                </a:solidFill>
              </a:defRPr>
            </a:pPr>
            <a:r>
              <a:t>Steven Roberts  ·  Ariana Huffmyer  ·  Louis Plough  ·  Mackenzie Gavery  ·  Neil Thompson</a:t>
            </a:r>
          </a:p>
          <a:p>
            <a:pPr>
              <a:spcBef>
                <a:spcPts val="1000"/>
              </a:spcBef>
              <a:defRPr sz="1500" i="1">
                <a:solidFill>
                  <a:srgbClr val="0E7C86"/>
                </a:solidFill>
              </a:defRPr>
            </a:pPr>
            <a:r>
              <a:t>University of Washington  ·  USDA-ARS  ·  NOAA NWFSC</a:t>
            </a:r>
          </a:p>
          <a:p>
            <a:pPr>
              <a:spcBef>
                <a:spcPts val="1800"/>
              </a:spcBef>
              <a:defRPr sz="1500">
                <a:solidFill>
                  <a:srgbClr val="444A52"/>
                </a:solidFill>
              </a:defRPr>
            </a:pPr>
            <a:r>
              <a:t>PCSGA Annual Conference · 2026</a:t>
            </a:r>
            <a:br/>
            <a:br/>
            <a:r>
              <a:t>SORMI.SCIENCE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1B3A5C"/>
                </a:solidFill>
              </a:defRPr>
            </a:pPr>
            <a:r>
              <a:t>Two questions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325880"/>
            <a:ext cx="1463040" cy="54864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10312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600"/>
              </a:spcAft>
              <a:defRPr sz="2600">
                <a:solidFill>
                  <a:srgbClr val="22262B"/>
                </a:solidFill>
              </a:defRPr>
            </a:pPr>
            <a:r>
              <a:t>• Which seed should I buy — which family lines actually perform on my site?</a:t>
            </a:r>
          </a:p>
          <a:p>
            <a:pPr>
              <a:spcAft>
                <a:spcPts val="2600"/>
              </a:spcAft>
              <a:defRPr sz="2600">
                <a:solidFill>
                  <a:srgbClr val="22262B"/>
                </a:solidFill>
              </a:defRPr>
            </a:pPr>
            <a:r>
              <a:t>• How stressed is my crop right now, before I start seeing mortality?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566160"/>
            <a:ext cx="106070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B3A5C"/>
                </a:solidFill>
              </a:defRPr>
            </a:pPr>
            <a:r>
              <a:t>Today, answering either one means waiting.</a:t>
            </a:r>
          </a:p>
          <a:p>
            <a:pPr>
              <a:spcBef>
                <a:spcPts val="800"/>
              </a:spcBef>
              <a:defRPr sz="2000">
                <a:solidFill>
                  <a:srgbClr val="444A52"/>
                </a:solidFill>
              </a:defRPr>
            </a:pPr>
            <a:r>
              <a:t>Breeding trials take a season. Mortality events tell you after the fact.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5623560"/>
            <a:ext cx="10607040" cy="777240"/>
          </a:xfrm>
          <a:prstGeom prst="rect">
            <a:avLst/>
          </a:prstGeom>
          <a:solidFill>
            <a:srgbClr val="EFF3F6"/>
          </a:solidFill>
          <a:ln w="15875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900" b="1">
                <a:solidFill>
                  <a:srgbClr val="1B3A5C"/>
                </a:solidFill>
              </a:defRPr>
            </a:pPr>
            <a:r>
              <a:t>We need a fast, cheap, non-lethal measure of how an oyster is doing — right now.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1B3A5C"/>
                </a:solidFill>
              </a:defRPr>
            </a:pPr>
            <a:r>
              <a:t>From blue to pink: the resazurin assay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325880"/>
            <a:ext cx="1463040" cy="54864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i="1">
                <a:solidFill>
                  <a:srgbClr val="0E7C86"/>
                </a:solidFill>
              </a:defRPr>
            </a:pPr>
            <a:r>
              <a:t>A redox dye that reports whole-organism metabolism</a:t>
            </a:r>
          </a:p>
        </p:txBody>
      </p:sp>
      <p:pic>
        <p:nvPicPr>
          <p:cNvPr id="5" name="Picture 4" descr="resazurin_plates_blue_to_pin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554998"/>
            <a:ext cx="6400800" cy="238808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452360" y="2103120"/>
            <a:ext cx="39319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900" b="1">
                <a:solidFill>
                  <a:srgbClr val="C2187A"/>
                </a:solidFill>
              </a:defRPr>
            </a:pPr>
            <a:r>
              <a:t>Resazurin is blue and non-fluorescent.</a:t>
            </a:r>
          </a:p>
          <a:p>
            <a:pPr>
              <a:spcAft>
                <a:spcPts val="1600"/>
              </a:spcAft>
              <a:defRPr sz="1900" b="0">
                <a:solidFill>
                  <a:srgbClr val="444A52"/>
                </a:solidFill>
              </a:defRPr>
            </a:pPr>
            <a:r>
              <a:t>Living cells reduce it to resorufin — pink and strongly fluorescent.</a:t>
            </a:r>
          </a:p>
          <a:p>
            <a:pPr>
              <a:spcAft>
                <a:spcPts val="1600"/>
              </a:spcAft>
              <a:defRPr sz="1900" b="1">
                <a:solidFill>
                  <a:srgbClr val="C2187A"/>
                </a:solidFill>
              </a:defRPr>
            </a:pPr>
            <a:r>
              <a:t>More metabolism = more pink = more signal.</a:t>
            </a:r>
          </a:p>
          <a:p>
            <a:pPr>
              <a:spcAft>
                <a:spcPts val="1600"/>
              </a:spcAft>
              <a:defRPr sz="1900" b="0">
                <a:solidFill>
                  <a:srgbClr val="444A52"/>
                </a:solidFill>
              </a:defRPr>
            </a:pPr>
            <a:r>
              <a:t>The animal stays alive. Nothing is sacrificed.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1B3A5C"/>
                </a:solidFill>
              </a:defRPr>
            </a:pPr>
            <a:r>
              <a:t>How a run works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325880"/>
            <a:ext cx="1463040" cy="54864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i="1">
                <a:solidFill>
                  <a:srgbClr val="0E7C86"/>
                </a:solidFill>
              </a:defRPr>
            </a:pPr>
            <a:r>
              <a:t>Roughly half a day, bench-top, ~$1 of dye per plate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14884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100">
                <a:solidFill>
                  <a:srgbClr val="22262B"/>
                </a:solidFill>
              </a:defRPr>
            </a:pPr>
            <a:r>
              <a:t>• Photograph animals for shell length (size normalization), then load one oyster per well.</a:t>
            </a:r>
          </a:p>
          <a:p>
            <a:pPr>
              <a:spcAft>
                <a:spcPts val="1600"/>
              </a:spcAft>
              <a:defRPr sz="2100">
                <a:solidFill>
                  <a:srgbClr val="22262B"/>
                </a:solidFill>
              </a:defRPr>
            </a:pPr>
            <a:r>
              <a:t>• Fill wells with resazurin working solution; empty wells serve as blanks.</a:t>
            </a:r>
          </a:p>
          <a:p>
            <a:pPr>
              <a:spcAft>
                <a:spcPts val="1600"/>
              </a:spcAft>
              <a:defRPr sz="2100">
                <a:solidFill>
                  <a:srgbClr val="22262B"/>
                </a:solidFill>
              </a:defRPr>
            </a:pPr>
            <a:r>
              <a:t>• Read fluorescence on a plate reader (ex 530 / em 590 nm) — baseline, then hourly for 4–6 h.</a:t>
            </a:r>
          </a:p>
          <a:p>
            <a:pPr>
              <a:spcAft>
                <a:spcPts val="1600"/>
              </a:spcAft>
              <a:defRPr sz="2100">
                <a:solidFill>
                  <a:srgbClr val="22262B"/>
                </a:solidFill>
              </a:defRPr>
            </a:pPr>
            <a:r>
              <a:t>• Hold at whatever condition you want to probe: ambient, heat, low salinity, freshwater.</a:t>
            </a:r>
          </a:p>
          <a:p>
            <a:pPr>
              <a:spcAft>
                <a:spcPts val="1600"/>
              </a:spcAft>
              <a:defRPr sz="2100">
                <a:solidFill>
                  <a:srgbClr val="22262B"/>
                </a:solidFill>
              </a:defRPr>
            </a:pPr>
            <a:r>
              <a:t>• Correct to blanks, normalize to shell length → a metabolism curve for every individual.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5623560"/>
            <a:ext cx="10607040" cy="777240"/>
          </a:xfrm>
          <a:prstGeom prst="rect">
            <a:avLst/>
          </a:prstGeom>
          <a:solidFill>
            <a:srgbClr val="EFF3F6"/>
          </a:solidFill>
          <a:ln w="15875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900" b="1">
                <a:solidFill>
                  <a:srgbClr val="1B3A5C"/>
                </a:solidFill>
              </a:defRPr>
            </a:pPr>
            <a:r>
              <a:t>96 individuals per plate, non-lethal, no respirometry hardware required.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1B3A5C"/>
                </a:solidFill>
              </a:defRPr>
            </a:pPr>
            <a:r>
              <a:t>This is published and validated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325880"/>
            <a:ext cx="1463040" cy="54864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i="1">
                <a:solidFill>
                  <a:srgbClr val="0E7C86"/>
                </a:solidFill>
              </a:defRPr>
            </a:pPr>
            <a:r>
              <a:t>Huffmyer et al. 2026, PeerJ 14:e21542 — DOI 10.7717/peerj.21542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14884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>
                <a:solidFill>
                  <a:srgbClr val="22262B"/>
                </a:solidFill>
              </a:defRPr>
            </a:pPr>
            <a:r>
              <a:t>• Resazurin fluorescence correlates with oxygen consumption on the same individuals.</a:t>
            </a:r>
          </a:p>
          <a:p>
            <a:pPr>
              <a:spcAft>
                <a:spcPts val="1400"/>
              </a:spcAft>
              <a:defRPr sz="2000">
                <a:solidFill>
                  <a:srgbClr val="22262B"/>
                </a:solidFill>
              </a:defRPr>
            </a:pPr>
            <a:r>
              <a:t>• Signal comes from live animals — live oysters far exceed empty shells and blanks (p &lt; 0.001).</a:t>
            </a:r>
          </a:p>
          <a:p>
            <a:pPr>
              <a:spcAft>
                <a:spcPts val="1400"/>
              </a:spcAft>
              <a:defRPr sz="2000">
                <a:solidFill>
                  <a:srgbClr val="22262B"/>
                </a:solidFill>
              </a:defRPr>
            </a:pPr>
            <a:r>
              <a:t>• Scales with body size, so we normalize to shell length (rho = 0.62, p &lt; 0.001).</a:t>
            </a:r>
          </a:p>
          <a:p>
            <a:pPr>
              <a:spcAft>
                <a:spcPts val="1400"/>
              </a:spcAft>
              <a:defRPr sz="2000">
                <a:solidFill>
                  <a:srgbClr val="22262B"/>
                </a:solidFill>
              </a:defRPr>
            </a:pPr>
            <a:r>
              <a:t>• Thermal performance curves behave as expected: metabolism peaks near 36 °C, then depresses.</a:t>
            </a:r>
          </a:p>
          <a:p>
            <a:pPr>
              <a:spcAft>
                <a:spcPts val="1400"/>
              </a:spcAft>
              <a:defRPr sz="2000">
                <a:solidFill>
                  <a:srgbClr val="22262B"/>
                </a:solidFill>
              </a:defRPr>
            </a:pPr>
            <a:r>
              <a:t>• Works in both Pacific (C. gigas) and Eastern (C. virginica) oysters, seed through juveniles.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5623560"/>
            <a:ext cx="10607040" cy="777240"/>
          </a:xfrm>
          <a:prstGeom prst="rect">
            <a:avLst/>
          </a:prstGeom>
          <a:solidFill>
            <a:srgbClr val="EFF3F6"/>
          </a:solidFill>
          <a:ln w="15875">
            <a:solidFill>
              <a:srgbClr val="C218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900" b="1">
                <a:solidFill>
                  <a:srgbClr val="1B3A5C"/>
                </a:solidFill>
              </a:defRPr>
            </a:pPr>
            <a:r>
              <a:t>Peer-reviewed, open access, protocol included as an appendix — anyone can run it.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2651760"/>
            <a:ext cx="10058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Use #1 — Predicting phenotype</a:t>
            </a:r>
          </a:p>
          <a:p>
            <a:pPr>
              <a:spcBef>
                <a:spcPts val="1000"/>
              </a:spcBef>
              <a:defRPr sz="2000">
                <a:solidFill>
                  <a:srgbClr val="9FD3D8"/>
                </a:solidFill>
              </a:defRPr>
            </a:pPr>
            <a:r>
              <a:t>Read metabolism today, forecast field performance later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1B3A5C"/>
                </a:solidFill>
              </a:defRPr>
            </a:pPr>
            <a:r>
              <a:t>Metabolism already tracks outcomes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325880"/>
            <a:ext cx="1463040" cy="54864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i="1">
                <a:solidFill>
                  <a:srgbClr val="0E7C86"/>
                </a:solidFill>
              </a:defRPr>
            </a:pPr>
            <a:r>
              <a:t>Key findings from the PeerJ study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14884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2100">
                <a:solidFill>
                  <a:srgbClr val="22262B"/>
                </a:solidFill>
              </a:defRPr>
            </a:pPr>
            <a:r>
              <a:t>• Under acute heat stress, oysters that survived had ~52% lower cumulative metabolism than those that died.</a:t>
            </a:r>
          </a:p>
          <a:p>
            <a:pPr>
              <a:spcAft>
                <a:spcPts val="1800"/>
              </a:spcAft>
              <a:defRPr sz="2100">
                <a:solidFill>
                  <a:srgbClr val="22262B"/>
                </a:solidFill>
              </a:defRPr>
            </a:pPr>
            <a:r>
              <a:t>• High metabolic output under stress = higher risk of mortality (p &lt; 0.001).</a:t>
            </a:r>
          </a:p>
          <a:p>
            <a:pPr>
              <a:spcAft>
                <a:spcPts val="1800"/>
              </a:spcAft>
              <a:defRPr sz="2100">
                <a:solidFill>
                  <a:srgbClr val="22262B"/>
                </a:solidFill>
              </a:defRPr>
            </a:pPr>
            <a:r>
              <a:t>• Families differ significantly in metabolic response — the trait is genetically variable.</a:t>
            </a:r>
          </a:p>
          <a:p>
            <a:pPr>
              <a:spcAft>
                <a:spcPts val="1800"/>
              </a:spcAft>
              <a:defRPr sz="2100">
                <a:solidFill>
                  <a:srgbClr val="22262B"/>
                </a:solidFill>
              </a:defRPr>
            </a:pPr>
            <a:r>
              <a:t>• In 50 selectively bred C. virginica families, metabolism correlated with predicted survival in the environment they were selected for (r = 0.56, p = 0.004).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5623560"/>
            <a:ext cx="10607040" cy="777240"/>
          </a:xfrm>
          <a:prstGeom prst="rect">
            <a:avLst/>
          </a:prstGeom>
          <a:solidFill>
            <a:srgbClr val="EFF3F6"/>
          </a:solidFill>
          <a:ln w="15875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900" b="1">
                <a:solidFill>
                  <a:srgbClr val="1B3A5C"/>
                </a:solidFill>
              </a:defRPr>
            </a:pPr>
            <a:r>
              <a:t>Metabolism is not just a health readout — it carries information about future performance.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1B3A5C"/>
                </a:solidFill>
              </a:defRPr>
            </a:pPr>
            <a:r>
              <a:t>Testing the idea head-on: survival trials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325880"/>
            <a:ext cx="1463040" cy="54864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i="1">
                <a:solidFill>
                  <a:srgbClr val="0E7C86"/>
                </a:solidFill>
              </a:defRPr>
            </a:pPr>
            <a:r>
              <a:t>Nine USDA C. gigas families, run side by side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377440" y="2011680"/>
          <a:ext cx="740664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3017520"/>
                <a:gridCol w="1463040"/>
                <a:gridCol w="1463040"/>
              </a:tblGrid>
              <a:tr h="400050">
                <a:tc>
                  <a:txBody>
                    <a:bodyPr/>
                    <a:lstStyle/>
                    <a:p>
                      <a:pPr algn="l">
                        <a:defRPr sz="1500" b="1"/>
                      </a:pPr>
                      <a:r>
                        <a:t>Trial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500" b="1"/>
                      </a:pPr>
                      <a:r>
                        <a:t>Stressor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500" b="1"/>
                      </a:pPr>
                      <a:r>
                        <a:t>Oysters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500" b="1"/>
                      </a:pPr>
                      <a:r>
                        <a:t>% died</a:t>
                      </a:r>
                    </a:p>
                  </a:txBody>
                  <a:tcPr/>
                </a:tc>
              </a:tr>
              <a:tr h="400050">
                <a:tc>
                  <a:txBody>
                    <a:bodyPr/>
                    <a:lstStyle/>
                    <a:p>
                      <a:pPr algn="l">
                        <a:defRPr sz="1500" b="0"/>
                      </a:pPr>
                      <a:r>
                        <a:t>Apr 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500" b="0"/>
                      </a:pPr>
                      <a:r>
                        <a:t>33 °C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500" b="0"/>
                      </a:pPr>
                      <a:r>
                        <a:t>128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500" b="0"/>
                      </a:pPr>
                      <a:r>
                        <a:t>49%</a:t>
                      </a:r>
                    </a:p>
                  </a:txBody>
                  <a:tcPr/>
                </a:tc>
              </a:tr>
              <a:tr h="400050">
                <a:tc>
                  <a:txBody>
                    <a:bodyPr/>
                    <a:lstStyle/>
                    <a:p>
                      <a:pPr algn="l">
                        <a:defRPr sz="1500" b="0"/>
                      </a:pPr>
                      <a:r>
                        <a:t>May 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500" b="0"/>
                      </a:pPr>
                      <a:r>
                        <a:t>33 °C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500" b="0"/>
                      </a:pPr>
                      <a:r>
                        <a:t>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500" b="0"/>
                      </a:pPr>
                      <a:r>
                        <a:t>99%</a:t>
                      </a:r>
                    </a:p>
                  </a:txBody>
                  <a:tcPr/>
                </a:tc>
              </a:tr>
              <a:tr h="400050">
                <a:tc>
                  <a:txBody>
                    <a:bodyPr/>
                    <a:lstStyle/>
                    <a:p>
                      <a:pPr algn="l">
                        <a:defRPr sz="1500" b="0"/>
                      </a:pPr>
                      <a:r>
                        <a:t>Jun 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500" b="0"/>
                      </a:pPr>
                      <a:r>
                        <a:t>36 °C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500" b="0"/>
                      </a:pPr>
                      <a:r>
                        <a:t>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500" b="0"/>
                      </a:pPr>
                      <a:r>
                        <a:t>95%</a:t>
                      </a:r>
                    </a:p>
                  </a:txBody>
                  <a:tcPr/>
                </a:tc>
              </a:tr>
              <a:tr h="400050">
                <a:tc>
                  <a:txBody>
                    <a:bodyPr/>
                    <a:lstStyle/>
                    <a:p>
                      <a:pPr algn="l">
                        <a:defRPr sz="1500" b="0"/>
                      </a:pPr>
                      <a:r>
                        <a:t>Jun 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500" b="0"/>
                      </a:pPr>
                      <a:r>
                        <a:t>36 °C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500" b="0"/>
                      </a:pPr>
                      <a:r>
                        <a:t>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500" b="0"/>
                      </a:pPr>
                      <a:r>
                        <a:t>86%</a:t>
                      </a:r>
                    </a:p>
                  </a:txBody>
                  <a:tcPr/>
                </a:tc>
              </a:tr>
              <a:tr h="400050">
                <a:tc>
                  <a:txBody>
                    <a:bodyPr/>
                    <a:lstStyle/>
                    <a:p>
                      <a:pPr algn="l">
                        <a:defRPr sz="1500" b="0"/>
                      </a:pPr>
                      <a:r>
                        <a:t>Jul 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500" b="0"/>
                      </a:pPr>
                      <a:r>
                        <a:t>35 °C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500" b="0"/>
                      </a:pPr>
                      <a:r>
                        <a:t>378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500" b="0"/>
                      </a:pPr>
                      <a:r>
                        <a:t>97%</a:t>
                      </a:r>
                    </a:p>
                  </a:txBody>
                  <a:tcPr/>
                </a:tc>
              </a:tr>
              <a:tr h="400050">
                <a:tc>
                  <a:txBody>
                    <a:bodyPr/>
                    <a:lstStyle/>
                    <a:p>
                      <a:pPr algn="l">
                        <a:defRPr sz="1500" b="0"/>
                      </a:pPr>
                      <a:r>
                        <a:t>Jul 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500" b="0"/>
                      </a:pPr>
                      <a:r>
                        <a:t>35 °C + low salinity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500" b="0"/>
                      </a:pPr>
                      <a:r>
                        <a:t>204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500" b="0"/>
                      </a:pPr>
                      <a:r>
                        <a:t>84%</a:t>
                      </a:r>
                    </a:p>
                  </a:txBody>
                  <a:tcPr/>
                </a:tc>
              </a:tr>
              <a:tr h="400050">
                <a:tc>
                  <a:txBody>
                    <a:bodyPr/>
                    <a:lstStyle/>
                    <a:p>
                      <a:pPr algn="l">
                        <a:defRPr sz="1500" b="0"/>
                      </a:pPr>
                      <a:r>
                        <a:t>Jul 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500" b="0"/>
                      </a:pPr>
                      <a:r>
                        <a:t>Freshwater → 36 °C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500" b="0"/>
                      </a:pPr>
                      <a:r>
                        <a:t>185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500" b="0"/>
                      </a:pPr>
                      <a:r>
                        <a:t>33%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777240" y="5623560"/>
            <a:ext cx="10607040" cy="777240"/>
          </a:xfrm>
          <a:prstGeom prst="rect">
            <a:avLst/>
          </a:prstGeom>
          <a:solidFill>
            <a:srgbClr val="EFF3F6"/>
          </a:solidFill>
          <a:ln w="15875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900" b="1">
                <a:solidFill>
                  <a:srgbClr val="1B3A5C"/>
                </a:solidFill>
              </a:defRPr>
            </a:pPr>
            <a:r>
              <a:t>Harshness varies enormously — raw survival can't be compared across trials.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1B3A5C"/>
                </a:solidFill>
              </a:defRPr>
            </a:pPr>
            <a:r>
              <a:t>A fair hardiness score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325880"/>
            <a:ext cx="1463040" cy="54864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i="1">
                <a:solidFill>
                  <a:srgbClr val="0E7C86"/>
                </a:solidFill>
              </a:defRPr>
            </a:pPr>
            <a:r>
              <a:t>0–100, comparable across trials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19456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0"/>
              </a:spcAft>
              <a:defRPr sz="2200">
                <a:solidFill>
                  <a:srgbClr val="22262B"/>
                </a:solidFill>
              </a:defRPr>
            </a:pPr>
            <a:r>
              <a:t>• Within each trial, rank families on (1) fraction surviving and (2) how long they lasted.</a:t>
            </a:r>
          </a:p>
          <a:p>
            <a:pPr>
              <a:spcAft>
                <a:spcPts val="2000"/>
              </a:spcAft>
              <a:defRPr sz="2200">
                <a:solidFill>
                  <a:srgbClr val="22262B"/>
                </a:solidFill>
              </a:defRPr>
            </a:pPr>
            <a:r>
              <a:t>• Convert each family's standing to a percentile against the other families in that same trial — this cancels out trial harshness.</a:t>
            </a:r>
          </a:p>
          <a:p>
            <a:pPr>
              <a:spcAft>
                <a:spcPts val="2000"/>
              </a:spcAft>
              <a:defRPr sz="2200">
                <a:solidFill>
                  <a:srgbClr val="22262B"/>
                </a:solidFill>
              </a:defRPr>
            </a:pPr>
            <a:r>
              <a:t>• Average those percentiles across all seven trials.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5623560"/>
            <a:ext cx="10607040" cy="777240"/>
          </a:xfrm>
          <a:prstGeom prst="rect">
            <a:avLst/>
          </a:prstGeom>
          <a:solidFill>
            <a:srgbClr val="EFF3F6"/>
          </a:solidFill>
          <a:ln w="15875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900" b="1">
                <a:solidFill>
                  <a:srgbClr val="1B3A5C"/>
                </a:solidFill>
              </a:defRPr>
            </a:pPr>
            <a:r>
              <a:t>Higher score = consistently tougher across many kinds of stress.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1B3A5C"/>
                </a:solidFill>
              </a:defRPr>
            </a:pPr>
            <a:r>
              <a:t>Families really do differ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325880"/>
            <a:ext cx="1463040" cy="54864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amily_rank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35224" y="1600200"/>
            <a:ext cx="6291072" cy="393192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777240" y="5623560"/>
            <a:ext cx="10607040" cy="777240"/>
          </a:xfrm>
          <a:prstGeom prst="rect">
            <a:avLst/>
          </a:prstGeom>
          <a:solidFill>
            <a:srgbClr val="EFF3F6"/>
          </a:solidFill>
          <a:ln w="15875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900" b="1">
                <a:solidFill>
                  <a:srgbClr val="1B3A5C"/>
                </a:solidFill>
              </a:defRPr>
            </a:pPr>
            <a:r>
              <a:t>Family 5 is the toughest; family 7 the most fragile — and the spread repeats across trials.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1B3A5C"/>
                </a:solidFill>
              </a:defRPr>
            </a:pPr>
            <a:r>
              <a:t>Reading the score: what the numbers mean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325880"/>
            <a:ext cx="1463040" cy="54864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i="1">
                <a:solidFill>
                  <a:srgbClr val="0E7C86"/>
                </a:solidFill>
              </a:defRPr>
            </a:pPr>
            <a:r>
              <a:t>Both numbers ask the same thing, on a scale of -1 to +1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103120"/>
            <a:ext cx="10607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1B3A5C"/>
                </a:solidFill>
              </a:defRPr>
            </a:pPr>
            <a:r>
              <a:t>Does the test rank the families in their true survival order?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788920"/>
            <a:ext cx="1060704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400"/>
              </a:spcBef>
              <a:defRPr sz="2100" b="1">
                <a:solidFill>
                  <a:srgbClr val="0E7C86"/>
                </a:solidFill>
              </a:defRPr>
            </a:pPr>
            <a:r>
              <a:t>Spearman rho</a:t>
            </a:r>
          </a:p>
          <a:p>
            <a:pPr>
              <a:spcBef>
                <a:spcPts val="400"/>
              </a:spcBef>
              <a:spcAft>
                <a:spcPts val="1800"/>
              </a:spcAft>
              <a:defRPr sz="1800">
                <a:solidFill>
                  <a:srgbClr val="444A52"/>
                </a:solidFill>
              </a:defRPr>
            </a:pPr>
            <a:r>
              <a:t>A ranking agreement score. +1 = same order (the test's toughest really is the toughest), 0 = unrelated, -1 = reversed. We rank rather than use raw values so one odd family can't distort it.</a:t>
            </a:r>
          </a:p>
          <a:p>
            <a:pPr>
              <a:spcBef>
                <a:spcPts val="1400"/>
              </a:spcBef>
              <a:defRPr sz="2100" b="1">
                <a:solidFill>
                  <a:srgbClr val="0E7C86"/>
                </a:solidFill>
              </a:defRPr>
            </a:pPr>
            <a:r>
              <a:t>LOFO-CV rho</a:t>
            </a:r>
          </a:p>
          <a:p>
            <a:pPr>
              <a:spcBef>
                <a:spcPts val="400"/>
              </a:spcBef>
              <a:spcAft>
                <a:spcPts val="1800"/>
              </a:spcAft>
              <a:defRPr sz="1800">
                <a:solidFill>
                  <a:srgbClr val="444A52"/>
                </a:solidFill>
              </a:defRPr>
            </a:pPr>
            <a:r>
              <a:t>The same score, measured honestly on families the model never saw: hide one family, predict it from the other eight, repeat for all nine, then compare.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5623560"/>
            <a:ext cx="10607040" cy="777240"/>
          </a:xfrm>
          <a:prstGeom prst="rect">
            <a:avLst/>
          </a:prstGeom>
          <a:solidFill>
            <a:srgbClr val="EFF3F6"/>
          </a:solidFill>
          <a:ln w="15875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900" b="1">
                <a:solidFill>
                  <a:srgbClr val="1B3A5C"/>
                </a:solidFill>
              </a:defRPr>
            </a:pPr>
            <a:r>
              <a:t>Spearman rho = optimistic best case.  LOFO-CV rho = the trustworthy one.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1B3A5C"/>
                </a:solidFill>
              </a:defRPr>
            </a:pPr>
            <a:r>
              <a:t>Tough families crash later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325880"/>
            <a:ext cx="1463040" cy="54864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i="1">
                <a:solidFill>
                  <a:srgbClr val="0E7C86"/>
                </a:solidFill>
              </a:defRPr>
            </a:pPr>
            <a:r>
              <a:t>Single best metabolic predictor</a:t>
            </a:r>
          </a:p>
        </p:txBody>
      </p:sp>
      <p:pic>
        <p:nvPicPr>
          <p:cNvPr id="5" name="Picture 4" descr="best_single_predictor_sca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90472" y="2057400"/>
            <a:ext cx="4587240" cy="3931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040880" y="1828800"/>
            <a:ext cx="44805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700">
                <a:solidFill>
                  <a:srgbClr val="444A52"/>
                </a:solidFill>
              </a:defRPr>
            </a:pPr>
            <a:r>
              <a:t>• Each dot is a family.</a:t>
            </a:r>
          </a:p>
          <a:p>
            <a:pPr>
              <a:spcAft>
                <a:spcPts val="1400"/>
              </a:spcAft>
              <a:defRPr sz="1700">
                <a:solidFill>
                  <a:srgbClr val="444A52"/>
                </a:solidFill>
              </a:defRPr>
            </a:pPr>
            <a:r>
              <a:t>• X: time to the steepest metabolic decline under freshwater + heat. Further right = crashes later.</a:t>
            </a:r>
          </a:p>
          <a:p>
            <a:pPr>
              <a:spcAft>
                <a:spcPts val="1400"/>
              </a:spcAft>
              <a:defRPr sz="1700">
                <a:solidFill>
                  <a:srgbClr val="444A52"/>
                </a:solidFill>
              </a:defRPr>
            </a:pPr>
            <a:r>
              <a:t>• Y: survival score (higher = tougher).</a:t>
            </a:r>
          </a:p>
          <a:p>
            <a:pPr>
              <a:spcAft>
                <a:spcPts val="1400"/>
              </a:spcAft>
              <a:defRPr sz="1700">
                <a:solidFill>
                  <a:srgbClr val="444A52"/>
                </a:solidFill>
              </a:defRPr>
            </a:pPr>
            <a:r>
              <a:t>• rho = 0.90; cross-validated rho = 0.81 when each family is predicted from the other eight.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1B3A5C"/>
                </a:solidFill>
              </a:defRPr>
            </a:pPr>
            <a:r>
              <a:t>The counterintuitive part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325880"/>
            <a:ext cx="1463040" cy="54864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i="1">
                <a:solidFill>
                  <a:srgbClr val="0E7C86"/>
                </a:solidFill>
              </a:defRPr>
            </a:pPr>
            <a:r>
              <a:t>Hardy oysters stay calm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400"/>
              </a:spcAft>
              <a:defRPr sz="2400">
                <a:solidFill>
                  <a:srgbClr val="22262B"/>
                </a:solidFill>
              </a:defRPr>
            </a:pPr>
            <a:r>
              <a:t>• Families whose metabolism spikes hardest when heated survive the least.</a:t>
            </a:r>
          </a:p>
          <a:p>
            <a:pPr>
              <a:spcAft>
                <a:spcPts val="2400"/>
              </a:spcAft>
              <a:defRPr sz="2400">
                <a:solidFill>
                  <a:srgbClr val="22262B"/>
                </a:solidFill>
              </a:defRPr>
            </a:pPr>
            <a:r>
              <a:t>• Hardy families keep metabolism restrained — they don't overreact.</a:t>
            </a:r>
          </a:p>
          <a:p>
            <a:pPr>
              <a:spcAft>
                <a:spcPts val="2400"/>
              </a:spcAft>
              <a:defRPr sz="2400">
                <a:solidFill>
                  <a:srgbClr val="22262B"/>
                </a:solidFill>
              </a:defRPr>
            </a:pPr>
            <a:r>
              <a:t>• They decline slowly and late rather than crashing early.</a:t>
            </a:r>
          </a:p>
          <a:p>
            <a:pPr>
              <a:spcAft>
                <a:spcPts val="2400"/>
              </a:spcAft>
              <a:defRPr sz="2400">
                <a:solidFill>
                  <a:srgbClr val="22262B"/>
                </a:solidFill>
              </a:defRPr>
            </a:pPr>
            <a:r>
              <a:t>• The signal is strongest when the assay is run during stress, not at rest.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1B3A5C"/>
                </a:solidFill>
              </a:defRPr>
            </a:pPr>
            <a:r>
              <a:t>Four values read from one curve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325880"/>
            <a:ext cx="1463040" cy="54864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i="1">
                <a:solidFill>
                  <a:srgbClr val="0E7C86"/>
                </a:solidFill>
              </a:defRPr>
            </a:pPr>
            <a:r>
              <a:t>Everything in the index comes from the shape of a single oyster's run</a:t>
            </a:r>
          </a:p>
        </p:txBody>
      </p:sp>
      <p:pic>
        <p:nvPicPr>
          <p:cNvPr id="5" name="Picture 4" descr="index_feature_schemat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32760" y="1828800"/>
            <a:ext cx="6096000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1B3A5C"/>
                </a:solidFill>
              </a:defRPr>
            </a:pPr>
            <a:r>
              <a:t>The resazurin index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325880"/>
            <a:ext cx="1463040" cy="54864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i="1">
                <a:solidFill>
                  <a:srgbClr val="0E7C86"/>
                </a:solidFill>
              </a:defRPr>
            </a:pPr>
            <a:r>
              <a:t>Four curve features, blended into one score per family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914400" y="2148840"/>
          <a:ext cx="1033272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4846320"/>
                <a:gridCol w="2560320"/>
              </a:tblGrid>
              <a:tr h="475488">
                <a:tc>
                  <a:txBody>
                    <a:bodyPr/>
                    <a:lstStyle/>
                    <a:p>
                      <a:pPr>
                        <a:defRPr sz="1600" b="1"/>
                      </a:pPr>
                      <a:r>
                        <a:t>Feature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/>
                      </a:pPr>
                      <a:r>
                        <a:t>Plain meaning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/>
                      </a:pPr>
                      <a:r>
                        <a:t>Survivor-like value</a:t>
                      </a:r>
                    </a:p>
                  </a:txBody>
                  <a:tcPr/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1600" b="0"/>
                      </a:pPr>
                      <a:r>
                        <a:t>Time to steepest drop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0"/>
                      </a:pPr>
                      <a:r>
                        <a:t>how long before metabolism crashes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/>
                      </a:pPr>
                      <a:r>
                        <a:t>later</a:t>
                      </a:r>
                    </a:p>
                  </a:txBody>
                  <a:tcPr/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1600" b="0"/>
                      </a:pPr>
                      <a:r>
                        <a:t>Steadiness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0"/>
                      </a:pPr>
                      <a:r>
                        <a:t>how much metabolism bounces around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/>
                      </a:pPr>
                      <a:r>
                        <a:t>steadier</a:t>
                      </a:r>
                    </a:p>
                  </a:txBody>
                  <a:tcPr/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1600" b="0"/>
                      </a:pPr>
                      <a:r>
                        <a:t>Early rise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0"/>
                      </a:pPr>
                      <a:r>
                        <a:t>how fast metabolism climbs at first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/>
                      </a:pPr>
                      <a:r>
                        <a:t>faster</a:t>
                      </a:r>
                    </a:p>
                  </a:txBody>
                  <a:tcPr/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1600" b="0"/>
                      </a:pPr>
                      <a:r>
                        <a:t>Depth of collapse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0"/>
                      </a:pPr>
                      <a:r>
                        <a:t>how far it falls from its peak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/>
                      </a:pPr>
                      <a:r>
                        <a:t>smaller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914400" y="4709160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444A52"/>
                </a:solidFill>
              </a:defRPr>
            </a:pPr>
            <a:r>
              <a:t>Each feature is put on a common scale, flipped so higher = tougher, and the four are averaged.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1B3A5C"/>
                </a:solidFill>
              </a:defRPr>
            </a:pPr>
            <a:r>
              <a:t>The index tracks real survival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325880"/>
            <a:ext cx="1463040" cy="54864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esazurin_index_sca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5420" y="1737360"/>
            <a:ext cx="4587240" cy="3931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0" y="2011680"/>
            <a:ext cx="44805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700">
                <a:solidFill>
                  <a:srgbClr val="444A52"/>
                </a:solidFill>
              </a:defRPr>
            </a:pPr>
            <a:r>
              <a:t>• X: combined resazurin index (further right = more survivor-like metabolism).</a:t>
            </a:r>
          </a:p>
          <a:p>
            <a:pPr>
              <a:spcAft>
                <a:spcPts val="1600"/>
              </a:spcAft>
              <a:defRPr sz="1700">
                <a:solidFill>
                  <a:srgbClr val="444A52"/>
                </a:solidFill>
              </a:defRPr>
            </a:pPr>
            <a:r>
              <a:t>• Y: survival score from the lethal trials.</a:t>
            </a:r>
          </a:p>
          <a:p>
            <a:pPr>
              <a:spcAft>
                <a:spcPts val="1600"/>
              </a:spcAft>
              <a:defRPr sz="1700">
                <a:solidFill>
                  <a:srgbClr val="444A52"/>
                </a:solidFill>
              </a:defRPr>
            </a:pPr>
            <a:r>
              <a:t>• Leave-one-family-out rho = 0.79 — strong prediction for families the model never saw.</a:t>
            </a:r>
          </a:p>
          <a:p>
            <a:pPr>
              <a:spcAft>
                <a:spcPts val="1600"/>
              </a:spcAft>
              <a:defRPr sz="1700">
                <a:solidFill>
                  <a:srgbClr val="444A52"/>
                </a:solidFill>
              </a:defRPr>
            </a:pPr>
            <a:r>
              <a:t>• Toughest (5) and most fragile (7) land at opposite ends.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2651760"/>
            <a:ext cx="10058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Use #2 — Real-time stress on the farm</a:t>
            </a:r>
          </a:p>
          <a:p>
            <a:pPr>
              <a:spcBef>
                <a:spcPts val="1000"/>
              </a:spcBef>
              <a:defRPr sz="2000">
                <a:solidFill>
                  <a:srgbClr val="9FD3D8"/>
                </a:solidFill>
              </a:defRPr>
            </a:pPr>
            <a:r>
              <a:t>A thermometer for physiological condition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1B3A5C"/>
                </a:solidFill>
              </a:defRPr>
            </a:pPr>
            <a:r>
              <a:t>Reading stress while it's happening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325880"/>
            <a:ext cx="1463040" cy="54864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i="1">
                <a:solidFill>
                  <a:srgbClr val="0E7C86"/>
                </a:solidFill>
              </a:defRPr>
            </a:pPr>
            <a:r>
              <a:t>Same assay, different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14884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100">
                <a:solidFill>
                  <a:srgbClr val="22262B"/>
                </a:solidFill>
              </a:defRPr>
            </a:pPr>
            <a:r>
              <a:t>• Pull a small sample of animals, run a plate, get an answer the same day.</a:t>
            </a:r>
          </a:p>
          <a:p>
            <a:pPr>
              <a:spcAft>
                <a:spcPts val="1600"/>
              </a:spcAft>
              <a:defRPr sz="2100">
                <a:solidFill>
                  <a:srgbClr val="22262B"/>
                </a:solidFill>
              </a:defRPr>
            </a:pPr>
            <a:r>
              <a:t>• Elevated metabolism under a heat or salinity event flags a crop under load — before mortality shows up.</a:t>
            </a:r>
          </a:p>
          <a:p>
            <a:pPr>
              <a:spcAft>
                <a:spcPts val="1600"/>
              </a:spcAft>
              <a:defRPr sz="2100">
                <a:solidFill>
                  <a:srgbClr val="22262B"/>
                </a:solidFill>
              </a:defRPr>
            </a:pPr>
            <a:r>
              <a:t>• Compare bags, tidal heights, gear types, or sites on the same afternoon.</a:t>
            </a:r>
          </a:p>
          <a:p>
            <a:pPr>
              <a:spcAft>
                <a:spcPts val="1600"/>
              </a:spcAft>
              <a:defRPr sz="2100">
                <a:solidFill>
                  <a:srgbClr val="22262B"/>
                </a:solidFill>
              </a:defRPr>
            </a:pPr>
            <a:r>
              <a:t>• Track recovery after an event: does metabolism return to baseline, and how fast?</a:t>
            </a:r>
          </a:p>
          <a:p>
            <a:pPr>
              <a:spcAft>
                <a:spcPts val="1600"/>
              </a:spcAft>
              <a:defRPr sz="2100">
                <a:solidFill>
                  <a:srgbClr val="22262B"/>
                </a:solidFill>
              </a:defRPr>
            </a:pPr>
            <a:r>
              <a:t>• Non-lethal and cheap enough to repeat weekly through a risky season.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5623560"/>
            <a:ext cx="10607040" cy="777240"/>
          </a:xfrm>
          <a:prstGeom prst="rect">
            <a:avLst/>
          </a:prstGeom>
          <a:solidFill>
            <a:srgbClr val="EFF3F6"/>
          </a:solidFill>
          <a:ln w="15875">
            <a:solidFill>
              <a:srgbClr val="C218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900" b="1">
                <a:solidFill>
                  <a:srgbClr val="1B3A5C"/>
                </a:solidFill>
              </a:defRPr>
            </a:pPr>
            <a:r>
              <a:t>Turns "the water got hot last week" into a number you can act on.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1B3A5C"/>
                </a:solidFill>
              </a:defRPr>
            </a:pPr>
            <a:r>
              <a:t>What's next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325880"/>
            <a:ext cx="1463040" cy="54864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10312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100">
                <a:solidFill>
                  <a:srgbClr val="22262B"/>
                </a:solidFill>
              </a:defRPr>
            </a:pPr>
            <a:r>
              <a:t>• Broaden the index with additional assays:</a:t>
            </a:r>
          </a:p>
          <a:p>
            <a:pPr lvl="1">
              <a:spcBef>
                <a:spcPts val="200"/>
              </a:spcBef>
              <a:spcAft>
                <a:spcPts val="1200"/>
              </a:spcAft>
              <a:defRPr sz="1700">
                <a:solidFill>
                  <a:srgbClr val="444A52"/>
                </a:solidFill>
              </a:defRPr>
            </a:pPr>
            <a:r>
              <a:t>– Glycogen (heat vs. control, 3 h)</a:t>
            </a:r>
          </a:p>
          <a:p>
            <a:pPr lvl="1">
              <a:spcBef>
                <a:spcPts val="200"/>
              </a:spcBef>
              <a:spcAft>
                <a:spcPts val="1200"/>
              </a:spcAft>
              <a:defRPr sz="1700">
                <a:solidFill>
                  <a:srgbClr val="444A52"/>
                </a:solidFill>
              </a:defRPr>
            </a:pPr>
            <a:r>
              <a:t>– Na+/K+ ATPase</a:t>
            </a:r>
          </a:p>
          <a:p>
            <a:pPr lvl="1">
              <a:spcBef>
                <a:spcPts val="200"/>
              </a:spcBef>
              <a:spcAft>
                <a:spcPts val="1200"/>
              </a:spcAft>
              <a:defRPr sz="1700">
                <a:solidFill>
                  <a:srgbClr val="444A52"/>
                </a:solidFill>
              </a:defRPr>
            </a:pPr>
            <a:r>
              <a:t>– Citrate synthase</a:t>
            </a:r>
          </a:p>
          <a:p>
            <a:pPr>
              <a:spcAft>
                <a:spcPts val="1200"/>
              </a:spcAft>
              <a:defRPr sz="2100">
                <a:solidFill>
                  <a:srgbClr val="22262B"/>
                </a:solidFill>
              </a:defRPr>
            </a:pPr>
            <a:r>
              <a:t>• Validate predictions against field outplants across PNW sites.</a:t>
            </a:r>
          </a:p>
          <a:p>
            <a:pPr>
              <a:spcAft>
                <a:spcPts val="1200"/>
              </a:spcAft>
              <a:defRPr sz="2100">
                <a:solidFill>
                  <a:srgbClr val="22262B"/>
                </a:solidFill>
              </a:defRPr>
            </a:pPr>
            <a:r>
              <a:t>• Package a grower-facing protocol and a simple scoring sheet.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1B3A5C"/>
                </a:solidFill>
              </a:defRPr>
            </a:pPr>
            <a:r>
              <a:t>Takeaways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325880"/>
            <a:ext cx="1463040" cy="54864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19456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00"/>
              </a:spcAft>
              <a:defRPr sz="2200">
                <a:solidFill>
                  <a:srgbClr val="22262B"/>
                </a:solidFill>
              </a:defRPr>
            </a:pPr>
            <a:r>
              <a:t>• Resazurin turns metabolism into a color change — cheap, non-lethal, 96 animals at a time.</a:t>
            </a:r>
          </a:p>
          <a:p>
            <a:pPr>
              <a:spcAft>
                <a:spcPts val="2200"/>
              </a:spcAft>
              <a:defRPr sz="2200">
                <a:solidFill>
                  <a:srgbClr val="22262B"/>
                </a:solidFill>
              </a:defRPr>
            </a:pPr>
            <a:r>
              <a:t>• Published and validated against oxygen consumption (PeerJ 2026).</a:t>
            </a:r>
          </a:p>
          <a:p>
            <a:pPr>
              <a:spcAft>
                <a:spcPts val="2200"/>
              </a:spcAft>
              <a:defRPr sz="2200">
                <a:solidFill>
                  <a:srgbClr val="22262B"/>
                </a:solidFill>
              </a:defRPr>
            </a:pPr>
            <a:r>
              <a:t>• Predicts phenotype: metabolic curve shape forecasts family hardiness (cross-validated rho ≈ 0.8).</a:t>
            </a:r>
          </a:p>
          <a:p>
            <a:pPr>
              <a:spcAft>
                <a:spcPts val="2200"/>
              </a:spcAft>
              <a:defRPr sz="2200">
                <a:solidFill>
                  <a:srgbClr val="22262B"/>
                </a:solidFill>
              </a:defRPr>
            </a:pPr>
            <a:r>
              <a:t>• Measures stress in real time: a same-day readout of how hard your crop is working.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5623560"/>
            <a:ext cx="10607040" cy="777240"/>
          </a:xfrm>
          <a:prstGeom prst="rect">
            <a:avLst/>
          </a:prstGeom>
          <a:solidFill>
            <a:srgbClr val="EFF3F6"/>
          </a:solidFill>
          <a:ln w="15875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900" b="1">
                <a:solidFill>
                  <a:srgbClr val="1B3A5C"/>
                </a:solidFill>
              </a:defRPr>
            </a:pPr>
            <a:r>
              <a:t>FUNDING  - USDA-WRAC - sormi.science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