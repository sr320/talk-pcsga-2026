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8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8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12-minute talk. Two things growers can use: predict phenotype before you grow it out, and read stress on the farm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up the grower problem before introducing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 plate: early in the incubation. Right plate: 4-6 hours later. You can literally see metabolism.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throughput: this is the reason it is useful operationally.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the method paper is out — this is not preliminary.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Objectives 3, 4, 5 of the paper, compressed.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 oysters per family per trial; time of death logged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brief — it's plumbing, not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truth we want to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98F2-83A9-9918-B69D-962D0A93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37758-A387-8A5A-A464-8B0229ADD6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FA4A9-52BA-2B4F-6B80-ECB016317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truth we want to predict.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75876-9878-B1DE-A6AA-876F6F9F3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3023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small gap between the two means the prediction isn't just memorizing our nine families. Spend ~45 s here — every rho on the next three slides depends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Leave-one-family-out CV is the honest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Metabolic depression as a resilience strategy — consistent with the PeerJ survival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curve once: climbs, peaks, then drops. Early rise, steadiness, time to steepest drop, depth of collapse. Then the next slide says which direction is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Measured under freshwater + heat. Blending averages out individual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Half a day of dye work stands in for a season of grow-out.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operational pitch: early warning + management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 on the two grower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0BC67-1321-80A9-1B73-54983DC9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532D5-0420-E22E-39F4-9070EFE84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3F0E6-E4E3-65C0-A0AA-C7C0666D0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 on the two grower uses.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41D1B-D350-465B-E7FF-729AC80CB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1815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DFCC-B3EB-F622-78CF-9BF8F9A3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08044-08E9-E6A7-D139-96ECDC732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01DE0-41F9-B3B7-648E-DDB04F427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 on the two grower uses.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CC05A-6C4F-58E2-68CC-52CF1A9E8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79520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63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Future Shellf</a:t>
            </a:r>
          </a:p>
          <a:p>
            <a:pPr>
              <a:spcBef>
                <a:spcPts val="800"/>
              </a:spcBef>
              <a:defRPr sz="3000">
                <a:solidFill>
                  <a:srgbClr val="9FD3D8"/>
                </a:solidFill>
              </a:defRPr>
            </a:pPr>
            <a:r>
              <a:t>Predictive Phenotyping for Oyster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85615"/>
            <a:ext cx="1060704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44A52"/>
                </a:solidFill>
              </a:defRPr>
            </a:pPr>
            <a:r>
              <a:t>Steven Roberts  ·  Ariana Huffmyer  ·  Louis Plough  ·  Mackenzie Gavery  ·  Neil Thompson</a:t>
            </a:r>
          </a:p>
          <a:p>
            <a:pPr>
              <a:spcBef>
                <a:spcPts val="1000"/>
              </a:spcBef>
              <a:defRPr sz="1500" i="1">
                <a:solidFill>
                  <a:srgbClr val="0E7C86"/>
                </a:solidFill>
              </a:defRPr>
            </a:pPr>
            <a:r>
              <a:t>University of Washington  ·  USDA-ARS  ·  NOAA NWFSC</a:t>
            </a:r>
          </a:p>
          <a:p>
            <a:pPr>
              <a:spcBef>
                <a:spcPts val="1800"/>
              </a:spcBef>
              <a:defRPr sz="1500">
                <a:solidFill>
                  <a:srgbClr val="444A52"/>
                </a:solidFill>
              </a:defRPr>
            </a:pPr>
            <a:r>
              <a:t>PCSGA Annual Conference · 2026</a:t>
            </a:r>
            <a:br/>
            <a:br/>
            <a:r>
              <a:t>SORMI.SCIENCE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Two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  <a:defRPr sz="2600">
                <a:solidFill>
                  <a:srgbClr val="22262B"/>
                </a:solidFill>
              </a:defRPr>
            </a:pPr>
            <a:r>
              <a:rPr dirty="0"/>
              <a:t>• Which seed should I buy — which family lines actually perform on my site?</a:t>
            </a:r>
          </a:p>
          <a:p>
            <a:pPr>
              <a:spcAft>
                <a:spcPts val="2600"/>
              </a:spcAft>
              <a:defRPr sz="2600">
                <a:solidFill>
                  <a:srgbClr val="22262B"/>
                </a:solidFill>
              </a:defRPr>
            </a:pPr>
            <a:r>
              <a:rPr dirty="0"/>
              <a:t>• How stressed is my crop right now, before I start seeing mortality?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rPr dirty="0"/>
              <a:t>Today, answering either one means waiting.</a:t>
            </a:r>
          </a:p>
          <a:p>
            <a:pPr>
              <a:spcBef>
                <a:spcPts val="800"/>
              </a:spcBef>
              <a:defRPr sz="2000">
                <a:solidFill>
                  <a:srgbClr val="444A52"/>
                </a:solidFill>
              </a:defRPr>
            </a:pPr>
            <a:r>
              <a:rPr dirty="0"/>
              <a:t>Breeding trials take a season. Mortality events tell you after the fact.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We need a fast, cheap, non-lethal measure of how an oyster is doing — right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rPr dirty="0"/>
              <a:t>From blue to pink: the resazurin assay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A redox dye that reports whole-organism metabolism</a:t>
            </a:r>
          </a:p>
        </p:txBody>
      </p:sp>
      <p:pic>
        <p:nvPicPr>
          <p:cNvPr id="5" name="Picture 4" descr="resazurin_plates_blue_to_p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54998"/>
            <a:ext cx="6400800" cy="23880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21031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1">
                <a:solidFill>
                  <a:srgbClr val="C2187A"/>
                </a:solidFill>
              </a:defRPr>
            </a:pPr>
            <a:r>
              <a:t>Resazurin is blue and non-fluorescent.</a:t>
            </a:r>
          </a:p>
          <a:p>
            <a:pPr>
              <a:spcAft>
                <a:spcPts val="1600"/>
              </a:spcAft>
              <a:defRPr sz="1900" b="0">
                <a:solidFill>
                  <a:srgbClr val="444A52"/>
                </a:solidFill>
              </a:defRPr>
            </a:pPr>
            <a:r>
              <a:t>Living cells reduce it to resorufin — pink and strongly fluorescent.</a:t>
            </a:r>
          </a:p>
          <a:p>
            <a:pPr>
              <a:spcAft>
                <a:spcPts val="1600"/>
              </a:spcAft>
              <a:defRPr sz="1900" b="1">
                <a:solidFill>
                  <a:srgbClr val="C2187A"/>
                </a:solidFill>
              </a:defRPr>
            </a:pPr>
            <a:r>
              <a:t>More metabolism = more pink = more signal.</a:t>
            </a:r>
          </a:p>
          <a:p>
            <a:pPr>
              <a:spcAft>
                <a:spcPts val="1600"/>
              </a:spcAft>
              <a:defRPr sz="1900" b="0">
                <a:solidFill>
                  <a:srgbClr val="444A52"/>
                </a:solidFill>
              </a:defRPr>
            </a:pPr>
            <a:r>
              <a:t>The animal stays alive. Nothing is sacrificed.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How a run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Roughly half a day, bench-top, ~$1 of dye per 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Photograph animals for shell length (size normalization), then load one oyster per well.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Fill wells with resazurin working solution; empty wells serve as blanks.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Read fluorescence on a plate reader (ex 530 / em 590 nm) — baseline, then hourly for 4–6 h.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Hold at whatever condition you want to probe: ambient, heat, low salinity, freshwater.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Correct to blanks, normalize to shell length → a metabolism curve for every individual.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96 individuals per plate, non-lethal, no respirometry hardware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Huffmyer et al. 2026, PeerJ 14:e21542 — DOI 10.7717/peerj.21542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rPr dirty="0"/>
              <a:t>• Resazurin fluorescence correlates with oxygen consumption on the same individuals.</a:t>
            </a:r>
          </a:p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rPr dirty="0"/>
              <a:t>• Signal comes from live animals — live oysters far exceed empty shells and blanks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rPr dirty="0"/>
              <a:t>• Scales with body size, so we normalize to shell length.</a:t>
            </a:r>
          </a:p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rPr dirty="0"/>
              <a:t>• Thermal performance curves behave as expected: metabolism peaks near 36 °C, then depresses.</a:t>
            </a:r>
          </a:p>
          <a:p>
            <a:pPr>
              <a:spcAft>
                <a:spcPts val="1400"/>
              </a:spcAft>
              <a:defRPr sz="2000">
                <a:solidFill>
                  <a:srgbClr val="22262B"/>
                </a:solidFill>
              </a:defRPr>
            </a:pPr>
            <a:r>
              <a:rPr dirty="0"/>
              <a:t>• Works in both Pacific (</a:t>
            </a:r>
            <a:r>
              <a:rPr i="1" dirty="0"/>
              <a:t>C. gigas</a:t>
            </a:r>
            <a:r>
              <a:rPr dirty="0"/>
              <a:t>) and Eastern (</a:t>
            </a:r>
            <a:r>
              <a:rPr i="1" dirty="0"/>
              <a:t>C. virginica</a:t>
            </a:r>
            <a:r>
              <a:rPr dirty="0"/>
              <a:t>) oysters, seed through juveniles.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C21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Peer-reviewed, open access, protocol included as an appendix — anyone can run 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B3DDB-8AD2-4844-1254-026E2178EA78}"/>
              </a:ext>
            </a:extLst>
          </p:cNvPr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rPr dirty="0"/>
              <a:t>From blue to pink: the resazurin assay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 #1 — Predicting phenotype</a:t>
            </a:r>
          </a:p>
          <a:p>
            <a:pPr>
              <a:spcBef>
                <a:spcPts val="1000"/>
              </a:spcBef>
              <a:defRPr sz="2000">
                <a:solidFill>
                  <a:srgbClr val="9FD3D8"/>
                </a:solidFill>
              </a:defRPr>
            </a:pPr>
            <a:r>
              <a:t>Read metabolism today, forecast field performance later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Metabolism already tracks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Key findings from the PeerJ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2262B"/>
                </a:solidFill>
              </a:defRPr>
            </a:pPr>
            <a:r>
              <a:rPr dirty="0"/>
              <a:t>• Under acute heat stress, oysters that survived had ~52% lower cumulative metabolism than those that died.</a:t>
            </a:r>
          </a:p>
          <a:p>
            <a:pPr>
              <a:spcAft>
                <a:spcPts val="1800"/>
              </a:spcAft>
              <a:defRPr sz="2100">
                <a:solidFill>
                  <a:srgbClr val="22262B"/>
                </a:solidFill>
              </a:defRPr>
            </a:pPr>
            <a:r>
              <a:rPr dirty="0"/>
              <a:t>• High metabolic output under stress = higher risk of mortality (p &lt; 0.001).</a:t>
            </a:r>
          </a:p>
          <a:p>
            <a:pPr>
              <a:spcAft>
                <a:spcPts val="1800"/>
              </a:spcAft>
              <a:defRPr sz="2100">
                <a:solidFill>
                  <a:srgbClr val="22262B"/>
                </a:solidFill>
              </a:defRPr>
            </a:pPr>
            <a:r>
              <a:rPr dirty="0"/>
              <a:t>• Families differ significantly in metabolic response — the trait is genetically variable.</a:t>
            </a:r>
          </a:p>
          <a:p>
            <a:pPr>
              <a:spcAft>
                <a:spcPts val="1800"/>
              </a:spcAft>
              <a:defRPr sz="2100">
                <a:solidFill>
                  <a:srgbClr val="22262B"/>
                </a:solidFill>
              </a:defRPr>
            </a:pPr>
            <a:r>
              <a:rPr dirty="0"/>
              <a:t>• In 50 selectively bred </a:t>
            </a:r>
            <a:r>
              <a:rPr i="1" dirty="0"/>
              <a:t>C. virginica </a:t>
            </a:r>
            <a:r>
              <a:rPr dirty="0"/>
              <a:t>families, metabolism correlated with predicted survival in the environment they were selected for (r = 0.56, p = 0.004).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Metabolism is not just a health readout — it carries information about future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Testing the idea head-on: survival trials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Nine USDA C. gigas families, run side by side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0" y="2011680"/>
          <a:ext cx="7406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>
                        <a:defRPr sz="1500" b="1"/>
                      </a:pPr>
                      <a:r>
                        <a:t>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Stressor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Oysters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% died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Apr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33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49%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May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33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Jun 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36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Jun 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36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Jul 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35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Jul 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35 °C + low salinity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defRPr sz="1500" b="0"/>
                      </a:pPr>
                      <a:r>
                        <a:t>Jul 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Freshwater → 36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/>
                      </a:pPr>
                      <a:r>
                        <a:t>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Harshness varies enormously — raw survival can't be compared across trials.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A fair hardiness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0–100, comparable across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2262B"/>
                </a:solidFill>
              </a:defRPr>
            </a:pPr>
            <a:r>
              <a:t>• Within each trial, rank families on (1) fraction surviving and (2) how long they lasted.</a:t>
            </a:r>
          </a:p>
          <a:p>
            <a:pPr>
              <a:spcAft>
                <a:spcPts val="2000"/>
              </a:spcAft>
              <a:defRPr sz="2200">
                <a:solidFill>
                  <a:srgbClr val="22262B"/>
                </a:solidFill>
              </a:defRPr>
            </a:pPr>
            <a:r>
              <a:t>• Convert each family's standing to a percentile against the other families in that same trial — this cancels out trial harshness.</a:t>
            </a:r>
          </a:p>
          <a:p>
            <a:pPr>
              <a:spcAft>
                <a:spcPts val="2000"/>
              </a:spcAft>
              <a:defRPr sz="2200">
                <a:solidFill>
                  <a:srgbClr val="22262B"/>
                </a:solidFill>
              </a:defRPr>
            </a:pPr>
            <a:r>
              <a:t>• Average those percentiles across all seven trials.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Higher score = consistently tougher across many kinds of stress.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Families really do differ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amily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24" y="1600200"/>
            <a:ext cx="6291072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Family 5 is the toughest; family 7 the most fragile — and the spread repeats across trials.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FE6B1-76FF-46A1-6040-F41F0A552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A4264-F24E-0E27-76D9-BEE7648A4B92}"/>
              </a:ext>
            </a:extLst>
          </p:cNvPr>
          <p:cNvSpPr txBox="1"/>
          <p:nvPr/>
        </p:nvSpPr>
        <p:spPr>
          <a:xfrm>
            <a:off x="640080" y="411480"/>
            <a:ext cx="108813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rPr lang="en-US" dirty="0"/>
              <a:t>Predictive Phenotyping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87F1F6-CA4B-AF45-9113-F3C2FA7BAAB5}"/>
              </a:ext>
            </a:extLst>
          </p:cNvPr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E3B10-AC86-6D2E-0D01-440DD86DC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34" y="1771100"/>
            <a:ext cx="10569931" cy="39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74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rPr dirty="0"/>
              <a:t>Reading the score: what the numbers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Both numbers ask the same thing, on a scale of -1 to 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B3A5C"/>
                </a:solidFill>
              </a:defRPr>
            </a:pPr>
            <a:r>
              <a:rPr dirty="0"/>
              <a:t>Does the test rank the families in their true survival order?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100" b="1">
                <a:solidFill>
                  <a:srgbClr val="0E7C86"/>
                </a:solidFill>
              </a:defRPr>
            </a:pPr>
            <a:r>
              <a:rPr dirty="0"/>
              <a:t>Spearman rho</a:t>
            </a:r>
          </a:p>
          <a:p>
            <a:pPr>
              <a:spcBef>
                <a:spcPts val="400"/>
              </a:spcBef>
              <a:spcAft>
                <a:spcPts val="1800"/>
              </a:spcAft>
              <a:defRPr sz="1800">
                <a:solidFill>
                  <a:srgbClr val="444A52"/>
                </a:solidFill>
              </a:defRPr>
            </a:pPr>
            <a:r>
              <a:rPr dirty="0"/>
              <a:t>A ranking agreement score. +1 = same order (the test's toughest really is the toughest), 0 = unrelated, -1 = reversed. We rank rather than use raw values so one odd family can't distort it.</a:t>
            </a:r>
          </a:p>
          <a:p>
            <a:pPr>
              <a:spcBef>
                <a:spcPts val="1400"/>
              </a:spcBef>
              <a:defRPr sz="2100" b="1">
                <a:solidFill>
                  <a:srgbClr val="0E7C86"/>
                </a:solidFill>
              </a:defRPr>
            </a:pPr>
            <a:r>
              <a:rPr dirty="0"/>
              <a:t>LOFO-CV rho</a:t>
            </a:r>
          </a:p>
          <a:p>
            <a:pPr>
              <a:spcBef>
                <a:spcPts val="400"/>
              </a:spcBef>
              <a:spcAft>
                <a:spcPts val="1800"/>
              </a:spcAft>
              <a:defRPr sz="1800">
                <a:solidFill>
                  <a:srgbClr val="444A52"/>
                </a:solidFill>
              </a:defRPr>
            </a:pPr>
            <a:r>
              <a:rPr dirty="0"/>
              <a:t>The same score, measured honestly on families the model never saw: hide one family, predict it from the other eight, repeat for all nine, then compare.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Spearman rho = optimistic best case.  LOFO-CV rho = the trustworthy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Tough families crash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Single best metabolic predictor</a:t>
            </a:r>
          </a:p>
        </p:txBody>
      </p:sp>
      <p:pic>
        <p:nvPicPr>
          <p:cNvPr id="5" name="Picture 4" descr="best_single_predicto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2057400"/>
            <a:ext cx="458724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828800"/>
            <a:ext cx="44805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444A52"/>
                </a:solidFill>
              </a:defRPr>
            </a:pPr>
            <a:r>
              <a:rPr dirty="0"/>
              <a:t>• Each dot is a family.</a:t>
            </a:r>
          </a:p>
          <a:p>
            <a:pPr>
              <a:spcAft>
                <a:spcPts val="1400"/>
              </a:spcAft>
              <a:defRPr sz="1700">
                <a:solidFill>
                  <a:srgbClr val="444A52"/>
                </a:solidFill>
              </a:defRPr>
            </a:pPr>
            <a:r>
              <a:rPr dirty="0"/>
              <a:t>• X: time to the steepest metabolic decline. Further right = crashes later.</a:t>
            </a:r>
          </a:p>
          <a:p>
            <a:pPr>
              <a:spcAft>
                <a:spcPts val="1400"/>
              </a:spcAft>
              <a:defRPr sz="1700">
                <a:solidFill>
                  <a:srgbClr val="444A52"/>
                </a:solidFill>
              </a:defRPr>
            </a:pPr>
            <a:r>
              <a:rPr dirty="0"/>
              <a:t>• Y: survival score (higher = tougher).</a:t>
            </a:r>
          </a:p>
          <a:p>
            <a:pPr>
              <a:spcAft>
                <a:spcPts val="1400"/>
              </a:spcAft>
              <a:defRPr sz="1700">
                <a:solidFill>
                  <a:srgbClr val="444A52"/>
                </a:solidFill>
              </a:defRPr>
            </a:pPr>
            <a:r>
              <a:rPr dirty="0"/>
              <a:t>• rho = 0.90; cross-validated rho = 0.81 when each family is predicted from the other eight.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The counterintuitive part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Hardy oysters stay calm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>
                <a:solidFill>
                  <a:srgbClr val="22262B"/>
                </a:solidFill>
              </a:defRPr>
            </a:pPr>
            <a:r>
              <a:t>• Families whose metabolism spikes hardest when heated survive the least.</a:t>
            </a:r>
          </a:p>
          <a:p>
            <a:pPr>
              <a:spcAft>
                <a:spcPts val="2400"/>
              </a:spcAft>
              <a:defRPr sz="2400">
                <a:solidFill>
                  <a:srgbClr val="22262B"/>
                </a:solidFill>
              </a:defRPr>
            </a:pPr>
            <a:r>
              <a:t>• Hardy families keep metabolism restrained — they don't overreact.</a:t>
            </a:r>
          </a:p>
          <a:p>
            <a:pPr>
              <a:spcAft>
                <a:spcPts val="2400"/>
              </a:spcAft>
              <a:defRPr sz="2400">
                <a:solidFill>
                  <a:srgbClr val="22262B"/>
                </a:solidFill>
              </a:defRPr>
            </a:pPr>
            <a:r>
              <a:t>• They decline slowly and late rather than crashing early.</a:t>
            </a:r>
          </a:p>
          <a:p>
            <a:pPr>
              <a:spcAft>
                <a:spcPts val="2400"/>
              </a:spcAft>
              <a:defRPr sz="2400">
                <a:solidFill>
                  <a:srgbClr val="22262B"/>
                </a:solidFill>
              </a:defRPr>
            </a:pPr>
            <a:r>
              <a:t>• The signal is strongest when the assay is run during stress, not at rest.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Four values read from one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Everything in the index comes from the shape of a single oyster's run</a:t>
            </a:r>
          </a:p>
        </p:txBody>
      </p:sp>
      <p:pic>
        <p:nvPicPr>
          <p:cNvPr id="5" name="Picture 4" descr="index_feature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760" y="2349796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The resazurin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Four curve features, blended into one score per family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4884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Plain 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Survivor-like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Time to steepest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how long before metabolism crashes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later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Steadiness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how much metabolism bounces around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steadier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Early 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how fast metabolism climbs at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Depth of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how far it falls from its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smaller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44A52"/>
                </a:solidFill>
              </a:defRPr>
            </a:pPr>
            <a:r>
              <a:t>Each feature is put on a common scale, flipped so higher = tougher, and the four are averaged.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The index tracks real survival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sazurin_index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20" y="1737360"/>
            <a:ext cx="458724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20116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444A52"/>
                </a:solidFill>
              </a:defRPr>
            </a:pPr>
            <a:r>
              <a:t>• X: combined resazurin index (further right = more survivor-like metabolism).</a:t>
            </a:r>
          </a:p>
          <a:p>
            <a:pPr>
              <a:spcAft>
                <a:spcPts val="1600"/>
              </a:spcAft>
              <a:defRPr sz="1700">
                <a:solidFill>
                  <a:srgbClr val="444A52"/>
                </a:solidFill>
              </a:defRPr>
            </a:pPr>
            <a:r>
              <a:t>• Y: survival score from the lethal trials.</a:t>
            </a:r>
          </a:p>
          <a:p>
            <a:pPr>
              <a:spcAft>
                <a:spcPts val="1600"/>
              </a:spcAft>
              <a:defRPr sz="1700">
                <a:solidFill>
                  <a:srgbClr val="444A52"/>
                </a:solidFill>
              </a:defRPr>
            </a:pPr>
            <a:r>
              <a:t>• Leave-one-family-out rho = 0.79 — strong prediction for families the model never saw.</a:t>
            </a:r>
          </a:p>
          <a:p>
            <a:pPr>
              <a:spcAft>
                <a:spcPts val="1600"/>
              </a:spcAft>
              <a:defRPr sz="1700">
                <a:solidFill>
                  <a:srgbClr val="444A52"/>
                </a:solidFill>
              </a:defRPr>
            </a:pPr>
            <a:r>
              <a:t>• Toughest (5) and most fragile (7) land at opposite ends.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Use #2 — Real-time stress on the farm</a:t>
            </a:r>
          </a:p>
          <a:p>
            <a:pPr>
              <a:spcBef>
                <a:spcPts val="1000"/>
              </a:spcBef>
              <a:defRPr sz="2000">
                <a:solidFill>
                  <a:srgbClr val="9FD3D8"/>
                </a:solidFill>
              </a:defRPr>
            </a:pPr>
            <a:r>
              <a:rPr dirty="0"/>
              <a:t>A thermometer for physiological conditio</a:t>
            </a:r>
            <a:r>
              <a:rPr lang="en-US" dirty="0"/>
              <a:t>n -  early development – conceptual 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Reading stress while it's happening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0E7C86"/>
                </a:solidFill>
              </a:defRPr>
            </a:pPr>
            <a:r>
              <a:t>Same assay, different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Pull a small sample of animals, run a plate, get an answer the same day.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Elevated metabolism under a heat or salinity event flags a crop under load — before mortality shows up.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Compare bags, tidal heights, gear types, or sites on the same afternoon.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Track recovery after an event: does metabolism return to baseline, and how fast?</a:t>
            </a:r>
          </a:p>
          <a:p>
            <a:pPr>
              <a:spcAft>
                <a:spcPts val="1600"/>
              </a:spcAft>
              <a:defRPr sz="2100">
                <a:solidFill>
                  <a:srgbClr val="22262B"/>
                </a:solidFill>
              </a:defRPr>
            </a:pPr>
            <a:r>
              <a:t>• Non-lethal and cheap enough to repeat weekly through a risky season.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C21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t>Turns "the water got hot last week" into a number you can act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rPr dirty="0"/>
              <a:t>• Resazurin turns metabolism into a color change — cheap, non-lethal, 96 animals at a time.</a:t>
            </a:r>
          </a:p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rPr dirty="0"/>
              <a:t>• Predicts phenotype: metabolic curve shape forecasts family hardiness</a:t>
            </a:r>
            <a:r>
              <a:rPr lang="en-US" dirty="0"/>
              <a:t>.</a:t>
            </a:r>
          </a:p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rPr lang="en-US" dirty="0"/>
              <a:t>• Need additional field performance data and will add other assays to index.</a:t>
            </a:r>
            <a:endParaRPr dirty="0"/>
          </a:p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rPr dirty="0"/>
              <a:t>• </a:t>
            </a:r>
            <a:r>
              <a:rPr lang="en-US" dirty="0"/>
              <a:t>Could m</a:t>
            </a:r>
            <a:r>
              <a:rPr dirty="0"/>
              <a:t>easur</a:t>
            </a:r>
            <a:r>
              <a:rPr lang="en-US" dirty="0"/>
              <a:t>e</a:t>
            </a:r>
            <a:r>
              <a:rPr dirty="0"/>
              <a:t> stress in real time: a same-day readout of how hard your crop is working.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rPr dirty="0"/>
              <a:t>USDA-WRAC </a:t>
            </a:r>
            <a:r>
              <a:rPr lang="en-US" dirty="0"/>
              <a:t>(Hudson - PSI)                         More @ </a:t>
            </a:r>
            <a:r>
              <a:rPr dirty="0" err="1"/>
              <a:t>sormi.science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367E-E5A6-79C4-E7B2-E8C21F23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DC3713-38C9-8666-6DD9-FDC24415527F}"/>
              </a:ext>
            </a:extLst>
          </p:cNvPr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rPr dirty="0"/>
              <a:t>USDA-WRAC </a:t>
            </a:r>
            <a:r>
              <a:rPr lang="en-US" dirty="0"/>
              <a:t>(Hudson - PSI)                         More @ </a:t>
            </a:r>
            <a:r>
              <a:rPr dirty="0" err="1"/>
              <a:t>sormi.science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889271-F2F3-22E0-07A2-38FE70FA7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386" y="457200"/>
            <a:ext cx="6941288" cy="482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69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2EC6-D12A-F456-F20C-E32B2F6E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6BFCA0-43F0-1A17-4D38-13D55AFE0E7E}"/>
              </a:ext>
            </a:extLst>
          </p:cNvPr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B3A5C"/>
                </a:solidFill>
              </a:defRPr>
            </a:pPr>
            <a:r>
              <a:t>Takeaways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559C51-8AB8-57CB-99CE-78C7333AEE23}"/>
              </a:ext>
            </a:extLst>
          </p:cNvPr>
          <p:cNvSpPr/>
          <p:nvPr/>
        </p:nvSpPr>
        <p:spPr>
          <a:xfrm>
            <a:off x="640080" y="1325880"/>
            <a:ext cx="146304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ADBAB-28F6-12C0-B5C3-F84C232A0041}"/>
              </a:ext>
            </a:extLst>
          </p:cNvPr>
          <p:cNvSpPr txBox="1"/>
          <p:nvPr/>
        </p:nvSpPr>
        <p:spPr>
          <a:xfrm>
            <a:off x="777240" y="2194560"/>
            <a:ext cx="1060704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rPr dirty="0"/>
              <a:t>• Resazurin turns metabolism into a color change — cheap, non-lethal, 96 animals at a time.</a:t>
            </a:r>
          </a:p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rPr dirty="0"/>
              <a:t>• Predicts phenotype: metabolic curve shape forecasts family hardiness</a:t>
            </a:r>
            <a:r>
              <a:rPr lang="en-US" dirty="0"/>
              <a:t>.</a:t>
            </a:r>
          </a:p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rPr lang="en-US" dirty="0"/>
              <a:t>• Need additional field performance data and will add other assays to index.</a:t>
            </a:r>
            <a:endParaRPr dirty="0"/>
          </a:p>
          <a:p>
            <a:pPr>
              <a:spcAft>
                <a:spcPts val="2200"/>
              </a:spcAft>
              <a:defRPr sz="2200">
                <a:solidFill>
                  <a:srgbClr val="22262B"/>
                </a:solidFill>
              </a:defRPr>
            </a:pPr>
            <a:r>
              <a:rPr dirty="0"/>
              <a:t>• </a:t>
            </a:r>
            <a:r>
              <a:rPr lang="en-US" dirty="0"/>
              <a:t>Could m</a:t>
            </a:r>
            <a:r>
              <a:rPr dirty="0"/>
              <a:t>easur</a:t>
            </a:r>
            <a:r>
              <a:rPr lang="en-US" dirty="0"/>
              <a:t>e</a:t>
            </a:r>
            <a:r>
              <a:rPr dirty="0"/>
              <a:t> stress in real time: a same-day readout of how hard your crop is working.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1A9C35-4494-06EA-CCAC-CA9D486A8EAC}"/>
              </a:ext>
            </a:extLst>
          </p:cNvPr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EFF3F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B3A5C"/>
                </a:solidFill>
              </a:defRPr>
            </a:pPr>
            <a:r>
              <a:rPr dirty="0"/>
              <a:t>USDA-WRAC </a:t>
            </a:r>
            <a:r>
              <a:rPr lang="en-US" dirty="0"/>
              <a:t>(Hudson - PSI)                         More @ </a:t>
            </a:r>
            <a:r>
              <a:rPr dirty="0" err="1"/>
              <a:t>sormi.science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906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1709</Words>
  <Application>Microsoft Macintosh PowerPoint</Application>
  <PresentationFormat>Widescreen</PresentationFormat>
  <Paragraphs>174</Paragraphs>
  <Slides>22</Slides>
  <Notes>20</Notes>
  <HiddenSlides>5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Steven Roberts</cp:lastModifiedBy>
  <cp:revision>8</cp:revision>
  <dcterms:created xsi:type="dcterms:W3CDTF">2013-01-27T09:14:16Z</dcterms:created>
  <dcterms:modified xsi:type="dcterms:W3CDTF">2026-09-15T03:23:24Z</dcterms:modified>
  <cp:category/>
</cp:coreProperties>
</file>